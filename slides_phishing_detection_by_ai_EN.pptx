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high_resolution_cinematic_futuristic_cybersecu.png">    </p:cNvPr>
          <p:cNvPicPr>
            <a:picLocks noChangeAspect="1"/>
          </p:cNvPicPr>
          <p:nvPr/>
        </p:nvPicPr>
        <p:blipFill>
          <a:blip r:embed="rId1"/>
          <a:srcRect l="24561" r="24561" t="0" b="0"/>
          <a:stretch/>
        </p:blipFill>
        <p:spPr>
          <a:xfrm>
            <a:off x="5989320" y="0"/>
            <a:ext cx="619963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4360" y="1097280"/>
            <a:ext cx="5029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Phishing Detection</a:t>
            </a:r>
            <a:endParaRPr lang="en-US" sz="4200" dirty="0"/>
          </a:p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by AI</a:t>
            </a:r>
            <a:endParaRPr lang="en-US" sz="4200" dirty="0"/>
          </a:p>
        </p:txBody>
      </p:sp>
      <p:sp>
        <p:nvSpPr>
          <p:cNvPr id="4" name="Text 1"/>
          <p:cNvSpPr/>
          <p:nvPr/>
        </p:nvSpPr>
        <p:spPr>
          <a:xfrm>
            <a:off x="621792" y="2788920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A6A6"/>
                </a:solidFill>
              </a:rPr>
              <a:t>Track 2 - Fraud, Scam &amp; Identity Defense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621792" y="3364992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DCEFFF"/>
                </a:solidFill>
              </a:rPr>
              <a:t>Goal: turn a raw email into an explainable and controlled security decision.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621792" y="4828032"/>
            <a:ext cx="4892040" cy="502920"/>
          </a:xfrm>
          <a:prstGeom prst="rect">
            <a:avLst/>
          </a:prstGeom>
          <a:solidFill>
            <a:srgbClr val="0F2F4A"/>
          </a:solidFill>
          <a:ln>
            <a:solidFill>
              <a:srgbClr val="0F2F4A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Signal -&gt; Analysis -&gt; Evidence -&gt; Decision -&gt; Controlled Action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621792" y="59893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Video support - 7 min max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Defense Lab 2026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problem: an email can lie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051560"/>
            <a:ext cx="111556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325880"/>
            <a:ext cx="4114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0B1F33"/>
                </a:solidFill>
              </a:rPr>
              <a:t>Phishing exploits trust: urgency, impersonation, hidden links, attachments, or sensitive requests.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868680" y="2852928"/>
            <a:ext cx="2743200" cy="960120"/>
          </a:xfrm>
          <a:prstGeom prst="rect">
            <a:avLst/>
          </a:prstGeom>
          <a:solidFill>
            <a:srgbClr val="FFE4E6"/>
          </a:solidFill>
          <a:ln>
            <a:solidFill>
              <a:srgbClr val="FFE4E6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4444"/>
                </a:solidFill>
              </a:rPr>
              <a:t>ATTACKER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EF4444"/>
                </a:solidFill>
              </a:rPr>
              <a:t>Impersonates an organization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709160" y="2194560"/>
            <a:ext cx="2743200" cy="960120"/>
          </a:xfrm>
          <a:prstGeom prst="rect">
            <a:avLst/>
          </a:prstGeom>
          <a:solidFill>
            <a:srgbClr val="EAF6FF"/>
          </a:solidFill>
          <a:ln>
            <a:solidFill>
              <a:srgbClr val="EAF6F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</a:rPr>
              <a:t>EMAIL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</a:rPr>
              <a:t>Manipulation channel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503920" y="2852928"/>
            <a:ext cx="2743200" cy="960120"/>
          </a:xfrm>
          <a:prstGeom prst="rect">
            <a:avLst/>
          </a:prstGeom>
          <a:solidFill>
            <a:srgbClr val="DCFCE7"/>
          </a:solidFill>
          <a:ln>
            <a:solidFill>
              <a:srgbClr val="DCFCE7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</a:rPr>
              <a:t>USER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</a:rPr>
              <a:t>Account, data, money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730752" y="3310128"/>
            <a:ext cx="749808" cy="0"/>
          </a:xfrm>
          <a:prstGeom prst="line">
            <a:avLst/>
          </a:prstGeom>
          <a:noFill/>
          <a:ln w="25400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7571232" y="3310128"/>
            <a:ext cx="749808" cy="0"/>
          </a:xfrm>
          <a:prstGeom prst="line">
            <a:avLst/>
          </a:prstGeom>
          <a:noFill/>
          <a:ln w="25400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685800" y="4754880"/>
            <a:ext cx="4206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</a:rPr>
              <a:t>• Credential theft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</a:rPr>
              <a:t>• Fraudulent payment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</a:rPr>
              <a:t>• Malicious attachment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</a:rPr>
              <a:t>• Loss of trust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669280" y="4800600"/>
            <a:ext cx="5212080" cy="713232"/>
          </a:xfrm>
          <a:prstGeom prst="rect">
            <a:avLst/>
          </a:prstGeom>
          <a:solidFill>
            <a:srgbClr val="FFF7ED"/>
          </a:solidFill>
          <a:ln>
            <a:solidFill>
              <a:srgbClr val="FFF7ED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97316"/>
                </a:solidFill>
              </a:rPr>
              <a:t>Need: an explained security decision, not just an opaque score.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1292840" y="641908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94A3B8"/>
                </a:solidFill>
              </a:rPr>
              <a:t>02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Defense Lab 2026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Security definition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051560"/>
            <a:ext cx="111556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417320"/>
            <a:ext cx="2331720" cy="438912"/>
          </a:xfrm>
          <a:prstGeom prst="rect">
            <a:avLst/>
          </a:prstGeom>
          <a:solidFill>
            <a:srgbClr val="FFE4E6"/>
          </a:solidFill>
          <a:ln>
            <a:solidFill>
              <a:srgbClr val="FFE4E6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F4444"/>
                </a:solidFill>
              </a:rPr>
              <a:t>Threat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85800" y="2057400"/>
            <a:ext cx="2331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Phishing email, social engineering, identity impersonation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520440" y="1417320"/>
            <a:ext cx="2331720" cy="438912"/>
          </a:xfrm>
          <a:prstGeom prst="rect">
            <a:avLst/>
          </a:prstGeom>
          <a:solidFill>
            <a:srgbClr val="EAF6FF"/>
          </a:solidFill>
          <a:ln>
            <a:solidFill>
              <a:srgbClr val="EAF6F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563EB"/>
                </a:solidFill>
              </a:rPr>
              <a:t>Protected asset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520440" y="2057400"/>
            <a:ext cx="2331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Accounts, passwords, internal data, money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355080" y="1417320"/>
            <a:ext cx="2331720" cy="438912"/>
          </a:xfrm>
          <a:prstGeom prst="rect">
            <a:avLst/>
          </a:prstGeom>
          <a:solidFill>
            <a:srgbClr val="DCFCE7"/>
          </a:solidFill>
          <a:ln>
            <a:solidFill>
              <a:srgbClr val="DCFCE7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B981"/>
                </a:solidFill>
              </a:rPr>
              <a:t>User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355080" y="2057400"/>
            <a:ext cx="2331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Employee, student, customer, or SOC analyst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189720" y="1417320"/>
            <a:ext cx="2331720" cy="438912"/>
          </a:xfrm>
          <a:prstGeom prst="rect">
            <a:avLst/>
          </a:prstGeom>
          <a:solidFill>
            <a:srgbClr val="FFF7ED"/>
          </a:solidFill>
          <a:ln>
            <a:solidFill>
              <a:srgbClr val="FFF7ED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97316"/>
                </a:solidFill>
              </a:rPr>
              <a:t>Outcome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189720" y="2057400"/>
            <a:ext cx="2331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Risk class + evidence + controlled action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51560" y="3977640"/>
            <a:ext cx="10058400" cy="731520"/>
          </a:xfrm>
          <a:prstGeom prst="rect">
            <a:avLst/>
          </a:prstGeom>
          <a:solidFill>
            <a:srgbClr val="0B1F33"/>
          </a:solidFill>
          <a:ln>
            <a:solidFill>
              <a:srgbClr val="0B1F33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The system must distinguish legitimate from suspicious, expose the signals, and recommend a proportional intervention.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965960" y="516636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</a:rPr>
              <a:t>• no blind deletion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</a:rPr>
              <a:t>• auditable decision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</a:rPr>
              <a:t>• uncertainty handling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675120" y="516636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</a:rPr>
              <a:t>• data protection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</a:rPr>
              <a:t>• authorized or synthetic datasets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</a:rPr>
              <a:t>• safe failure behavior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1292840" y="641908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94A3B8"/>
                </a:solidFill>
              </a:rPr>
              <a:t>03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Defense Lab 2026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End-to-end workflow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051560"/>
            <a:ext cx="111556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874520"/>
            <a:ext cx="1600200" cy="512064"/>
          </a:xfrm>
          <a:prstGeom prst="rect">
            <a:avLst/>
          </a:prstGeom>
          <a:solidFill>
            <a:srgbClr val="EAF6FF"/>
          </a:solidFill>
          <a:ln>
            <a:solidFill>
              <a:srgbClr val="EAF6F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3"/>
                </a:solidFill>
              </a:rPr>
              <a:t>Signal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256032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raw email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203704" y="2130552"/>
            <a:ext cx="237744" cy="0"/>
          </a:xfrm>
          <a:prstGeom prst="line">
            <a:avLst/>
          </a:prstGeom>
          <a:noFill/>
          <a:ln w="20320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2496312" y="1874520"/>
            <a:ext cx="1600200" cy="512064"/>
          </a:xfrm>
          <a:prstGeom prst="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3"/>
                </a:solidFill>
              </a:rPr>
              <a:t>Extraction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496312" y="256032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JSON + metadata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151376" y="2130552"/>
            <a:ext cx="237744" cy="0"/>
          </a:xfrm>
          <a:prstGeom prst="line">
            <a:avLst/>
          </a:prstGeom>
          <a:noFill/>
          <a:ln w="20320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4443984" y="1874520"/>
            <a:ext cx="1600200" cy="512064"/>
          </a:xfrm>
          <a:prstGeom prst="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3"/>
                </a:solidFill>
              </a:rPr>
              <a:t>AI analysis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443984" y="256032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rules + model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099048" y="2130552"/>
            <a:ext cx="237744" cy="0"/>
          </a:xfrm>
          <a:prstGeom prst="line">
            <a:avLst/>
          </a:prstGeom>
          <a:noFill/>
          <a:ln w="20320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6391656" y="1874520"/>
            <a:ext cx="1600200" cy="512064"/>
          </a:xfrm>
          <a:prstGeom prst="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3"/>
                </a:solidFill>
              </a:rPr>
              <a:t>Evidence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391656" y="256032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visible signals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046720" y="2130552"/>
            <a:ext cx="237744" cy="0"/>
          </a:xfrm>
          <a:prstGeom prst="line">
            <a:avLst/>
          </a:prstGeom>
          <a:noFill/>
          <a:ln w="20320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8339328" y="1874520"/>
            <a:ext cx="1600200" cy="512064"/>
          </a:xfrm>
          <a:prstGeom prst="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3"/>
                </a:solidFill>
              </a:rPr>
              <a:t>Decision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339328" y="256032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risk + confidence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9994392" y="2130552"/>
            <a:ext cx="237744" cy="0"/>
          </a:xfrm>
          <a:prstGeom prst="line">
            <a:avLst/>
          </a:prstGeom>
          <a:noFill/>
          <a:ln w="20320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10287000" y="1874520"/>
            <a:ext cx="1600200" cy="512064"/>
          </a:xfrm>
          <a:prstGeom prst="rect">
            <a:avLst/>
          </a:prstGeom>
          <a:solidFill>
            <a:srgbClr val="FFF7ED"/>
          </a:solidFill>
          <a:ln>
            <a:solidFill>
              <a:srgbClr val="FFF7ED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97316"/>
                </a:solidFill>
              </a:rPr>
              <a:t>Action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287000" y="256032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warn / quarantine / escalate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77240" y="3886200"/>
            <a:ext cx="2743200" cy="502920"/>
          </a:xfrm>
          <a:prstGeom prst="rect">
            <a:avLst/>
          </a:prstGeom>
          <a:solidFill>
            <a:srgbClr val="EAF6FF"/>
          </a:solidFill>
          <a:ln>
            <a:solidFill>
              <a:srgbClr val="EAF6F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563EB"/>
                </a:solidFill>
              </a:rPr>
              <a:t>Core security flow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14400" y="461772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• signal capture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• material analysis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• readable evidence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663440" y="3886200"/>
            <a:ext cx="2743200" cy="502920"/>
          </a:xfrm>
          <a:prstGeom prst="rect">
            <a:avLst/>
          </a:prstGeom>
          <a:solidFill>
            <a:srgbClr val="FFF7ED"/>
          </a:solidFill>
          <a:ln>
            <a:solidFill>
              <a:srgbClr val="FFF7ED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97316"/>
                </a:solidFill>
              </a:rPr>
              <a:t>Safety layer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4800600" y="461772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• confidence threshold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• human approval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• no secrets in repo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458200" y="3886200"/>
            <a:ext cx="2743200" cy="502920"/>
          </a:xfrm>
          <a:prstGeom prst="rect">
            <a:avLst/>
          </a:prstGeom>
          <a:solidFill>
            <a:srgbClr val="ECFDF5"/>
          </a:solidFill>
          <a:ln>
            <a:solidFill>
              <a:srgbClr val="ECFDF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B981"/>
                </a:solidFill>
              </a:rPr>
              <a:t>Audit layer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595360" y="461772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• score recorded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• evidence recorded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• action traceable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1292840" y="641908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94A3B8"/>
                </a:solidFill>
              </a:rPr>
              <a:t>04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Defense Lab 2026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AI explains the decision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051560"/>
            <a:ext cx="111556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417320"/>
            <a:ext cx="2286000" cy="457200"/>
          </a:xfrm>
          <a:prstGeom prst="rect">
            <a:avLst/>
          </a:prstGeom>
          <a:solidFill>
            <a:srgbClr val="EAF6FF"/>
          </a:solidFill>
          <a:ln>
            <a:solidFill>
              <a:srgbClr val="EAF6F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563EB"/>
                </a:solidFill>
              </a:rPr>
              <a:t>Inputs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205740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• sender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• subject + body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• URLs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• attachments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• headers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0" y="1417320"/>
            <a:ext cx="2926080" cy="457200"/>
          </a:xfrm>
          <a:prstGeom prst="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F33"/>
                </a:solidFill>
              </a:rPr>
              <a:t>Analysis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663440" y="2057400"/>
            <a:ext cx="28346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• manipulative urgency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• sensitive request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• domain mismatch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• masked link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• combined score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915400" y="1417320"/>
            <a:ext cx="2286000" cy="457200"/>
          </a:xfrm>
          <a:prstGeom prst="rect">
            <a:avLst/>
          </a:prstGeom>
          <a:solidFill>
            <a:srgbClr val="ECFDF5"/>
          </a:solidFill>
          <a:ln>
            <a:solidFill>
              <a:srgbClr val="ECFDF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B981"/>
                </a:solidFill>
              </a:rPr>
              <a:t>Outputs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052560" y="205740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• low / medium / high risk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• confidence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• evidence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• proposed action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337560" y="1645920"/>
            <a:ext cx="914400" cy="0"/>
          </a:xfrm>
          <a:prstGeom prst="line">
            <a:avLst/>
          </a:prstGeom>
          <a:noFill/>
          <a:ln w="22860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7772400" y="1645920"/>
            <a:ext cx="914400" cy="0"/>
          </a:xfrm>
          <a:prstGeom prst="line">
            <a:avLst/>
          </a:prstGeom>
          <a:noFill/>
          <a:ln w="22860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1188720" y="4343400"/>
            <a:ext cx="2926080" cy="384048"/>
          </a:xfrm>
          <a:prstGeom prst="rect">
            <a:avLst/>
          </a:prstGeom>
          <a:solidFill>
            <a:srgbClr val="FFE4E6"/>
          </a:solidFill>
          <a:ln>
            <a:solidFill>
              <a:srgbClr val="FFE4E6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F4444"/>
                </a:solidFill>
              </a:rPr>
              <a:t>Example evidence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88720" y="4892040"/>
            <a:ext cx="3749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0B1F33"/>
                </a:solidFill>
              </a:rPr>
              <a:t>"Urgent request" + "external link" + "inconsistent sender" -&gt; high risk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00800" y="4343400"/>
            <a:ext cx="2926080" cy="384048"/>
          </a:xfrm>
          <a:prstGeom prst="rect">
            <a:avLst/>
          </a:prstGeom>
          <a:solidFill>
            <a:srgbClr val="EAF6FF"/>
          </a:solidFill>
          <a:ln>
            <a:solidFill>
              <a:srgbClr val="EAF6F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563EB"/>
                </a:solidFill>
              </a:rPr>
              <a:t>Defensible decision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0" y="4892040"/>
            <a:ext cx="3931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0B1F33"/>
                </a:solidFill>
              </a:rPr>
              <a:t>The prediction is backed by signals, not only by a model answer.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1292840" y="641908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94A3B8"/>
                </a:solidFill>
              </a:rPr>
              <a:t>05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Defense Lab 2026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Demo: three moments to show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051560"/>
            <a:ext cx="111556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508760"/>
            <a:ext cx="502920" cy="502920"/>
          </a:xfrm>
          <a:prstGeom prst="rect">
            <a:avLst/>
          </a:prstGeom>
          <a:solidFill>
            <a:srgbClr val="ECFDF5"/>
          </a:solidFill>
          <a:ln>
            <a:solidFill>
              <a:srgbClr val="ECFDF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B981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508760" y="1527048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B1F33"/>
                </a:solidFill>
              </a:rPr>
              <a:t>Legitimate email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68680" y="228600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475569"/>
                </a:solidFill>
              </a:rPr>
              <a:t>Low risk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475569"/>
                </a:solidFill>
              </a:rPr>
              <a:t>No strong indicator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069080" y="1773936"/>
            <a:ext cx="384048" cy="0"/>
          </a:xfrm>
          <a:prstGeom prst="line">
            <a:avLst/>
          </a:prstGeom>
          <a:noFill/>
          <a:ln w="20320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4572000" y="1508760"/>
            <a:ext cx="502920" cy="502920"/>
          </a:xfrm>
          <a:prstGeom prst="rect">
            <a:avLst/>
          </a:prstGeom>
          <a:solidFill>
            <a:srgbClr val="FFE4E6"/>
          </a:solidFill>
          <a:ln>
            <a:solidFill>
              <a:srgbClr val="FFE4E6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F4444"/>
                </a:solidFill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257800" y="1527048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B1F33"/>
                </a:solidFill>
              </a:rPr>
              <a:t>Phishing email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617720" y="228600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475569"/>
                </a:solidFill>
              </a:rPr>
              <a:t>High risk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475569"/>
                </a:solidFill>
              </a:rPr>
              <a:t>Evidence + action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818120" y="1773936"/>
            <a:ext cx="384048" cy="0"/>
          </a:xfrm>
          <a:prstGeom prst="line">
            <a:avLst/>
          </a:prstGeom>
          <a:noFill/>
          <a:ln w="20320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8321040" y="1508760"/>
            <a:ext cx="502920" cy="502920"/>
          </a:xfrm>
          <a:prstGeom prst="rect">
            <a:avLst/>
          </a:prstGeom>
          <a:solidFill>
            <a:srgbClr val="FFF7ED"/>
          </a:solidFill>
          <a:ln>
            <a:solidFill>
              <a:srgbClr val="FFF7ED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97316"/>
                </a:solidFill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006840" y="1527048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B1F33"/>
                </a:solidFill>
              </a:rPr>
              <a:t>Ambiguous / failure case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366760" y="228600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475569"/>
                </a:solidFill>
              </a:rPr>
              <a:t>Reduced confidence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475569"/>
                </a:solidFill>
              </a:rPr>
              <a:t>Controlled escalation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005840" y="4114800"/>
            <a:ext cx="3749040" cy="502920"/>
          </a:xfrm>
          <a:prstGeom prst="rect">
            <a:avLst/>
          </a:prstGeom>
          <a:solidFill>
            <a:srgbClr val="0B1F33"/>
          </a:solidFill>
          <a:ln>
            <a:solidFill>
              <a:srgbClr val="0B1F33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Simple video narration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43000" y="480060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</a:rPr>
              <a:t>• load an email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</a:rPr>
              <a:t>• show score + evidence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</a:rPr>
              <a:t>• show proposed action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858000" y="4114800"/>
            <a:ext cx="3383280" cy="502920"/>
          </a:xfrm>
          <a:prstGeom prst="rect">
            <a:avLst/>
          </a:prstGeom>
          <a:solidFill>
            <a:srgbClr val="FFE4E6"/>
          </a:solidFill>
          <a:ln>
            <a:solidFill>
              <a:srgbClr val="FFE4E6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4444"/>
                </a:solidFill>
              </a:rPr>
              <a:t>Avoid this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995160" y="480060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</a:rPr>
              <a:t>• demo without explanation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</a:rPr>
              <a:t>• score without evidence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</a:rPr>
              <a:t>• broken links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292840" y="641908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94A3B8"/>
                </a:solidFill>
              </a:rPr>
              <a:t>06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Defense Lab 2026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Evaluation and safety controls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051560"/>
            <a:ext cx="111556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444752"/>
            <a:ext cx="1828800" cy="384048"/>
          </a:xfrm>
          <a:prstGeom prst="rect">
            <a:avLst/>
          </a:prstGeom>
          <a:solidFill>
            <a:srgbClr val="EAF6FF"/>
          </a:solidFill>
          <a:ln>
            <a:solidFill>
              <a:srgbClr val="EAF6F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563EB"/>
                </a:solidFill>
              </a:rPr>
              <a:t>Normal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2834640" y="148132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475569"/>
                </a:solidFill>
              </a:rPr>
              <a:t>legitimate behavior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31520" y="2139696"/>
            <a:ext cx="1828800" cy="384048"/>
          </a:xfrm>
          <a:prstGeom prst="rect">
            <a:avLst/>
          </a:prstGeom>
          <a:solidFill>
            <a:srgbClr val="FFE4E6"/>
          </a:solidFill>
          <a:ln>
            <a:solidFill>
              <a:srgbClr val="FFE4E6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F4444"/>
                </a:solidFill>
              </a:rPr>
              <a:t>Positive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2834640" y="217627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475569"/>
                </a:solidFill>
              </a:rPr>
              <a:t>phishing detected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31520" y="2834640"/>
            <a:ext cx="1828800" cy="384048"/>
          </a:xfrm>
          <a:prstGeom prst="rect">
            <a:avLst/>
          </a:prstGeom>
          <a:solidFill>
            <a:srgbClr val="EAF6FF"/>
          </a:solidFill>
          <a:ln>
            <a:solidFill>
              <a:srgbClr val="EAF6F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563EB"/>
                </a:solidFill>
              </a:rPr>
              <a:t>Negative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2834640" y="287121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475569"/>
                </a:solidFill>
              </a:rPr>
              <a:t>false positive avoided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731520" y="3529584"/>
            <a:ext cx="1828800" cy="384048"/>
          </a:xfrm>
          <a:prstGeom prst="rect">
            <a:avLst/>
          </a:prstGeom>
          <a:solidFill>
            <a:srgbClr val="EAF6FF"/>
          </a:solidFill>
          <a:ln>
            <a:solidFill>
              <a:srgbClr val="EAF6F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563EB"/>
                </a:solidFill>
              </a:rPr>
              <a:t>Failure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2834640" y="356616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475569"/>
                </a:solidFill>
              </a:rPr>
              <a:t>missing or malformed data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731520" y="4224528"/>
            <a:ext cx="1828800" cy="384048"/>
          </a:xfrm>
          <a:prstGeom prst="rect">
            <a:avLst/>
          </a:prstGeom>
          <a:solidFill>
            <a:srgbClr val="EAF6FF"/>
          </a:solidFill>
          <a:ln>
            <a:solidFill>
              <a:srgbClr val="EAF6F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563EB"/>
                </a:solidFill>
              </a:rPr>
              <a:t>Adversarial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2834640" y="426110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475569"/>
                </a:solidFill>
              </a:rPr>
              <a:t>evasion attempt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7498080" y="1417320"/>
            <a:ext cx="3108960" cy="457200"/>
          </a:xfrm>
          <a:prstGeom prst="rect">
            <a:avLst/>
          </a:prstGeom>
          <a:solidFill>
            <a:srgbClr val="0B1F33"/>
          </a:solidFill>
          <a:ln>
            <a:solidFill>
              <a:srgbClr val="0B1F33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Required controls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589520" y="2148840"/>
            <a:ext cx="35661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• no credentials in GitHub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• public or synthetic data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• mask sensitive fields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• simulated or approved action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• audit log for decisions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97280" y="5486400"/>
            <a:ext cx="9966960" cy="566928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3"/>
                </a:solidFill>
              </a:rPr>
              <a:t>Goal: a reliable and defensible prototype, not just an AI prediction.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292840" y="641908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94A3B8"/>
                </a:solidFill>
              </a:rPr>
              <a:t>07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high_resolution_cinematic_futuristic_cybersecu.png">    </p:cNvPr>
          <p:cNvPicPr>
            <a:picLocks noChangeAspect="1"/>
          </p:cNvPicPr>
          <p:nvPr/>
        </p:nvPicPr>
        <p:blipFill>
          <a:blip r:embed="rId1"/>
          <a:srcRect l="27188" r="27188" t="0" b="0"/>
          <a:stretch/>
        </p:blipFill>
        <p:spPr>
          <a:xfrm>
            <a:off x="6629400" y="0"/>
            <a:ext cx="555955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4360" y="658368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Conclusion</a:t>
            </a:r>
            <a:endParaRPr lang="en-US" sz="3400" dirty="0"/>
          </a:p>
        </p:txBody>
      </p:sp>
      <p:sp>
        <p:nvSpPr>
          <p:cNvPr id="4" name="Text 1"/>
          <p:cNvSpPr/>
          <p:nvPr/>
        </p:nvSpPr>
        <p:spPr>
          <a:xfrm>
            <a:off x="621792" y="1572768"/>
            <a:ext cx="5166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E5F6FF"/>
                </a:solidFill>
              </a:rPr>
              <a:t>Our contribution: make phishing detection explainable, auditable, and controlled.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621792" y="2788920"/>
            <a:ext cx="1508760" cy="438912"/>
          </a:xfrm>
          <a:prstGeom prst="rect">
            <a:avLst/>
          </a:prstGeom>
          <a:solidFill>
            <a:srgbClr val="0F2F4A"/>
          </a:solidFill>
          <a:ln>
            <a:solidFill>
              <a:srgbClr val="0F2F4A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A6A6"/>
                </a:solidFill>
              </a:rPr>
              <a:t>To submit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749808" y="3502152"/>
            <a:ext cx="4480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</a:rPr>
              <a:t>• public GitHub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</a:rPr>
              <a:t>• final ZIP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</a:rPr>
              <a:t>• YouTube video &lt;= 7 min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</a:rPr>
              <a:t>• README + architecture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</a:rPr>
              <a:t>• datasets/APIs disclosed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621792" y="5376672"/>
            <a:ext cx="1508760" cy="438912"/>
          </a:xfrm>
          <a:prstGeom prst="rect">
            <a:avLst/>
          </a:prstGeom>
          <a:solidFill>
            <a:srgbClr val="2A1A12"/>
          </a:solidFill>
          <a:ln>
            <a:solidFill>
              <a:srgbClr val="2A1A12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97316"/>
                </a:solidFill>
              </a:rPr>
              <a:t>Limits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2359152" y="5431536"/>
            <a:ext cx="3456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DCEFFF"/>
                </a:solidFill>
              </a:rPr>
              <a:t>More data, score calibration, stronger attachment analysis, and email/SOC integration.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21792" y="62636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A6A6"/>
                </a:solidFill>
              </a:rPr>
              <a:t>Thank you.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AI Defense Lab 2026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Phishing Detection by AI</dc:title>
  <dc:subject>Phishing Detection by AI - Video Support</dc:subject>
  <dc:creator>OpenAI</dc:creator>
  <cp:lastModifiedBy>OpenAI</cp:lastModifiedBy>
  <cp:revision>1</cp:revision>
  <dcterms:created xsi:type="dcterms:W3CDTF">2026-09-26T16:29:37Z</dcterms:created>
  <dcterms:modified xsi:type="dcterms:W3CDTF">2026-09-26T16:29:37Z</dcterms:modified>
</cp:coreProperties>
</file>